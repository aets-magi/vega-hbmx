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42803763" cy="302752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88"/>
    <p:restoredTop sz="94610"/>
  </p:normalViewPr>
  <p:slideViewPr>
    <p:cSldViewPr snapToGrid="0" snapToObjects="1">
      <p:cViewPr>
        <p:scale>
          <a:sx n="127" d="100"/>
          <a:sy n="127" d="100"/>
        </p:scale>
        <p:origin x="-9896" y="-14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______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_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121"/>
                </a:solidFill>
                <a:latin typeface="Arial"/>
              </a:defRPr>
            </a:pPr>
            <a:r>
              <a:rPr lang="en" sz="1400" b="0" i="0" u="none" strike="noStrike">
                <a:solidFill>
                  <a:srgbClr val="212121"/>
                </a:solidFill>
                <a:latin typeface="Arial"/>
              </a:rPr>
              <a:t>NVIDIA vs AMD Numerical Divergence Rate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Divergence Rate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0E3-864F-8388-9078ECE8AC00}"/>
              </c:ext>
            </c:extLst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0E3-864F-8388-9078ECE8AC00}"/>
              </c:ext>
            </c:extLst>
          </c:dPt>
          <c:dPt>
            <c:idx val="2"/>
            <c:invertIfNegative val="0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0E3-864F-8388-9078ECE8AC0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FP32 Direct</c:v>
                </c:pt>
                <c:pt idx="1">
                  <c:v>FP64 Direct</c:v>
                </c:pt>
                <c:pt idx="2">
                  <c:v>FP64 HIPIFY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0.98</c:v>
                </c:pt>
                <c:pt idx="2">
                  <c:v>1.1000000000000001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0E3-864F-8388-9078ECE8AC0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242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242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121"/>
                </a:solidFill>
                <a:latin typeface="Arial"/>
              </a:defRPr>
            </a:pPr>
            <a:r>
              <a:rPr lang="en" sz="1400" b="0" i="0" u="none" strike="noStrike">
                <a:solidFill>
                  <a:srgbClr val="212121"/>
                </a:solidFill>
                <a:latin typeface="Arial"/>
              </a:rPr>
              <a:t>gem5 vs Physical Vega 56: Simulation Error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(%)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881-BC4B-9879-053DAEA827CB}"/>
              </c:ext>
            </c:extLst>
          </c:dPt>
          <c:dPt>
            <c:idx val="1"/>
            <c:invertIfNegative val="0"/>
            <c:bubble3D val="0"/>
            <c:spPr>
              <a:solidFill>
                <a:srgbClr val="1976D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81-BC4B-9879-053DAEA827CB}"/>
              </c:ext>
            </c:extLst>
          </c:dPt>
          <c:dPt>
            <c:idx val="2"/>
            <c:invertIfNegative val="0"/>
            <c:bubble3D val="0"/>
            <c:spPr>
              <a:solidFill>
                <a:srgbClr val="0089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881-BC4B-9879-053DAEA827CB}"/>
              </c:ext>
            </c:extLst>
          </c:dPt>
          <c:dPt>
            <c:idx val="3"/>
            <c:invertIfNegative val="0"/>
            <c:bubble3D val="0"/>
            <c:spPr>
              <a:solidFill>
                <a:srgbClr val="0079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881-BC4B-9879-053DAEA827C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 i="0" u="none" strike="noStrike">
                    <a:solidFill>
                      <a:srgbClr val="212121"/>
                    </a:solidFill>
                    <a:latin typeface="Arial"/>
                  </a:defRPr>
                </a:pPr>
                <a:endParaRPr lang="ja-JP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Speedup (avg)</c:v>
                </c:pt>
                <c:pt idx="1">
                  <c:v>Speedup (worst)</c:v>
                </c:pt>
                <c:pt idx="2">
                  <c:v>Instr Count (avg)</c:v>
                </c:pt>
                <c:pt idx="3">
                  <c:v>Instr Count (worst)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10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881-BC4B-9879-053DAEA827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2424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242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AFA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5370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3291840"/>
          </a:xfrm>
          <a:prstGeom prst="rect">
            <a:avLst/>
          </a:prstGeom>
          <a:solidFill>
            <a:srgbClr val="B71C1C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0" y="2926080"/>
            <a:ext cx="30275784" cy="365760"/>
          </a:xfrm>
          <a:prstGeom prst="rect">
            <a:avLst/>
          </a:prstGeom>
          <a:solidFill>
            <a:srgbClr val="7F1D1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365760" y="365760"/>
            <a:ext cx="29544264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6800"/>
              <a:t>Backend-Dependent Stability on Legacy HBM GPUs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295442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3400"/>
              <a:t>ROCm/HIP vs Vulkan on Vega/gfx900: residual paths, offload-layer semantics, and reproducible diagnosis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2468880"/>
            <a:ext cx="2954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Akira Ito  |  AETS (Akatsuki Enterprise Technology Solutions)  |  aets-giken@hiroshima-aktk.com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29544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C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IEICE GNW-68  |  Kyushu Sangyo University  |  March 9, 2026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3657600"/>
            <a:ext cx="548640" cy="548640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36576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51560" y="3657600"/>
            <a:ext cx="13949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800"/>
              <a:t>Background &amp; Motivation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365760" y="4251960"/>
            <a:ext cx="146349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365760" y="4480560"/>
            <a:ext cx="14634972" cy="201168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365760" y="4480560"/>
            <a:ext cx="14634972" cy="2011680"/>
          </a:xfrm>
          <a:prstGeom prst="rect">
            <a:avLst/>
          </a:prstGeom>
          <a:noFill/>
          <a:ln/>
        </p:spPr>
        <p:txBody>
          <a:bodyPr wrap="square" lIns="1270" tIns="3810" rIns="2540" bIns="1270" rtlCol="0" anchor="t"/>
          <a:lstStyle/>
          <a:p>
            <a:pPr marL="342900" indent="-342900">
              <a:buSzPct val="100000"/>
              <a:buChar char="•"/>
            </a:pPr>
            <a:r>
              <a:rPr sz="2200"/>
              <a:t>Official support matrices now exclude gfx900 in ROCm 7.2, but real systems can still execute through residual code and artifact paths.</a:t>
            </a:r>
            <a:endParaRPr lang="en-US" sz="2400" dirty="0"/>
          </a:p>
          <a:p>
            <a:r>
              <a:rPr sz="2200"/>
              <a:t>For students and small labs, the key question is not only support status, but whether execution is possible, stable, and reproducible.</a:t>
            </a:r>
          </a:p>
          <a:p>
            <a:r>
              <a:rPr sz="2200"/>
              <a:t>We therefore built a matched dual-backend testbed on the same Vega device to separate support policy, backend choice, and runtime behavior.</a:t>
            </a:r>
          </a:p>
          <a:p>
            <a:r>
              <a:rPr sz="2200"/>
              <a:t>Goal: explain why "unsupported" and "unusable" are not the same statement.</a:t>
            </a:r>
          </a:p>
        </p:txBody>
      </p:sp>
      <p:sp>
        <p:nvSpPr>
          <p:cNvPr id="14" name="Shape 12"/>
          <p:cNvSpPr/>
          <p:nvPr/>
        </p:nvSpPr>
        <p:spPr>
          <a:xfrm>
            <a:off x="365760" y="6675120"/>
            <a:ext cx="548640" cy="548640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65760" y="6675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051560" y="6675120"/>
            <a:ext cx="13949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800"/>
              <a:t>Problem Statement</a:t>
            </a:r>
            <a:endParaRPr lang="en-US" sz="3800" dirty="0"/>
          </a:p>
        </p:txBody>
      </p:sp>
      <p:sp>
        <p:nvSpPr>
          <p:cNvPr id="17" name="Shape 15"/>
          <p:cNvSpPr/>
          <p:nvPr/>
        </p:nvSpPr>
        <p:spPr>
          <a:xfrm>
            <a:off x="365760" y="7269480"/>
            <a:ext cx="14634972" cy="0"/>
          </a:xfrm>
          <a:prstGeom prst="line">
            <a:avLst/>
          </a:prstGeom>
          <a:noFill/>
          <a:ln w="254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365760" y="7498080"/>
            <a:ext cx="14634972" cy="173736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365760" y="7498080"/>
            <a:ext cx="14634972" cy="1737360"/>
          </a:xfrm>
          <a:prstGeom prst="rect">
            <a:avLst/>
          </a:prstGeom>
          <a:noFill/>
          <a:ln/>
        </p:spPr>
        <p:txBody>
          <a:bodyPr wrap="square" lIns="1270" tIns="3810" rIns="2540" bIns="1270" rtlCol="0" anchor="t"/>
          <a:lstStyle/>
          <a:p>
            <a:pPr marL="342900" indent="-342900">
              <a:buSzPct val="100000"/>
              <a:buChar char="•"/>
            </a:pPr>
            <a:r>
              <a:rPr sz="2200"/>
              <a:t>Legacy Vega GPUs are often treated as categorically unsuitable for modern ROCm workloads.</a:t>
            </a:r>
            <a:endParaRPr lang="en-US" sz="2400" dirty="0"/>
          </a:p>
          <a:p>
            <a:r>
              <a:rPr sz="2200"/>
              <a:t>In practice, success or failure may be decided at different layers: distribution presets, build targets, init validation, backend macros, or runtime compute paths.</a:t>
            </a:r>
          </a:p>
          <a:p>
            <a:r>
              <a:rPr sz="2200"/>
              <a:t>We ask a sharper question: is instability caused by Vega itself, or by a specific backend path under matched conditions?</a:t>
            </a:r>
          </a:p>
        </p:txBody>
      </p:sp>
      <p:sp>
        <p:nvSpPr>
          <p:cNvPr id="20" name="Shape 18"/>
          <p:cNvSpPr/>
          <p:nvPr/>
        </p:nvSpPr>
        <p:spPr>
          <a:xfrm>
            <a:off x="365760" y="9418320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365760" y="9418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051560" y="9418320"/>
            <a:ext cx="13949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800"/>
              <a:t>Related Work</a:t>
            </a:r>
            <a:endParaRPr lang="en-US" sz="3800" dirty="0"/>
          </a:p>
        </p:txBody>
      </p:sp>
      <p:sp>
        <p:nvSpPr>
          <p:cNvPr id="23" name="Shape 21"/>
          <p:cNvSpPr/>
          <p:nvPr/>
        </p:nvSpPr>
        <p:spPr>
          <a:xfrm>
            <a:off x="365760" y="10012680"/>
            <a:ext cx="14634972" cy="0"/>
          </a:xfrm>
          <a:prstGeom prst="line">
            <a:avLst/>
          </a:prstGeom>
          <a:noFill/>
          <a:ln w="254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10241280"/>
            <a:ext cx="14634972" cy="530352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548640" y="10378440"/>
            <a:ext cx="142692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600"/>
              <a:t>A. Numerical Divergence (LLNL, arXiv:2410.09172)</a:t>
            </a:r>
            <a:endParaRPr lang="en-US" sz="2800" dirty="0"/>
          </a:p>
          <a:p>
            <a:r>
              <a:rPr sz="2600"/>
              <a:t>Small self-contained tests expose cross-platform numeric differences</a:t>
            </a:r>
          </a:p>
        </p:txBody>
      </p:sp>
      <p:graphicFrame>
        <p:nvGraphicFramePr>
          <p:cNvPr id="26" name="Chart 0"/>
          <p:cNvGraphicFramePr/>
          <p:nvPr/>
        </p:nvGraphicFramePr>
        <p:xfrm>
          <a:off x="640080" y="11247120"/>
          <a:ext cx="14086332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548640" y="13624560"/>
            <a:ext cx="14269212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000"/>
              <a:t>Key insight: successful compilation and launch do not guarantee equivalent behavior.</a:t>
            </a:r>
            <a:endParaRPr lang="en-US" sz="2200" dirty="0"/>
          </a:p>
          <a:p>
            <a:r>
              <a:rPr sz="2000"/>
              <a:t>This motivates backend-aware validation rather than anecdotal "it runs" claims.</a:t>
            </a:r>
          </a:p>
        </p:txBody>
      </p:sp>
      <p:sp>
        <p:nvSpPr>
          <p:cNvPr id="28" name="Shape 25"/>
          <p:cNvSpPr/>
          <p:nvPr/>
        </p:nvSpPr>
        <p:spPr>
          <a:xfrm>
            <a:off x="365760" y="15727680"/>
            <a:ext cx="14634972" cy="420624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6"/>
          <p:cNvSpPr/>
          <p:nvPr/>
        </p:nvSpPr>
        <p:spPr>
          <a:xfrm>
            <a:off x="548640" y="15864840"/>
            <a:ext cx="142692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600"/>
              <a:t>B. The Refutability Gap (Mossel, 2026)</a:t>
            </a:r>
            <a:endParaRPr lang="en-US" sz="2800" dirty="0"/>
          </a:p>
          <a:p>
            <a:r>
              <a:rPr sz="2600"/>
              <a:t>LLM reasoning claims require reproducible, falsifiable evaluation procedures</a:t>
            </a:r>
          </a:p>
        </p:txBody>
      </p:sp>
      <p:graphicFrame>
        <p:nvGraphicFramePr>
          <p:cNvPr id="30" name="Chart 1"/>
          <p:cNvGraphicFramePr/>
          <p:nvPr/>
        </p:nvGraphicFramePr>
        <p:xfrm>
          <a:off x="640080" y="16733520"/>
          <a:ext cx="14086332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Text 27"/>
          <p:cNvSpPr/>
          <p:nvPr/>
        </p:nvSpPr>
        <p:spPr>
          <a:xfrm>
            <a:off x="548640" y="18836640"/>
            <a:ext cx="1426921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200"/>
              <a:t>Our contribution is implementation-side: turn those concerns into executable work logs, gate matrices, and matched backend comparisons.</a:t>
            </a:r>
            <a:endParaRPr lang="en-US" sz="2400" dirty="0"/>
          </a:p>
        </p:txBody>
      </p:sp>
      <p:sp>
        <p:nvSpPr>
          <p:cNvPr id="32" name="Shape 28"/>
          <p:cNvSpPr/>
          <p:nvPr/>
        </p:nvSpPr>
        <p:spPr>
          <a:xfrm>
            <a:off x="365760" y="20116800"/>
            <a:ext cx="14634972" cy="329184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3" name="Text 29"/>
          <p:cNvSpPr/>
          <p:nvPr/>
        </p:nvSpPr>
        <p:spPr>
          <a:xfrm>
            <a:off x="548640" y="20253960"/>
            <a:ext cx="142692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600"/>
              <a:t>C. Support Matrices vs Residual Paths</a:t>
            </a:r>
            <a:endParaRPr lang="en-US" sz="2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756880"/>
          <a:ext cx="14269213" cy="2057400"/>
        </p:xfrm>
        <a:graphic>
          <a:graphicData uri="http://schemas.openxmlformats.org/drawingml/2006/table">
            <a:tbl>
              <a:tblPr/>
              <a:tblGrid>
                <a:gridCol w="45661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2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07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2000" b="1"/>
                        <a:t>Layer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Observation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Implication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2000"/>
                        <a:t>ROCm 7.2 matrix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gfx900 not listed</a:t>
                      </a:r>
                    </a:p>
                    <a:p>
                      <a:r>
                        <a:rPr sz="2000"/>
                        <a:t>not officially guaranteed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Support status alone does not decide runtime possibility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2000"/>
                        <a:t>Source / artifacts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__gfx900__ paths, hsaco artifacts, HIP library strings remain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Residual paths can still enable partial execution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" name="Shape 30"/>
          <p:cNvSpPr/>
          <p:nvPr/>
        </p:nvSpPr>
        <p:spPr>
          <a:xfrm>
            <a:off x="15275052" y="3657600"/>
            <a:ext cx="548640" cy="548640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Text 31"/>
          <p:cNvSpPr/>
          <p:nvPr/>
        </p:nvSpPr>
        <p:spPr>
          <a:xfrm>
            <a:off x="15275052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37" name="Text 32"/>
          <p:cNvSpPr/>
          <p:nvPr/>
        </p:nvSpPr>
        <p:spPr>
          <a:xfrm>
            <a:off x="15960852" y="3657600"/>
            <a:ext cx="13949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800"/>
              <a:t>Engineering Challenges</a:t>
            </a:r>
            <a:endParaRPr lang="en-US" sz="3800" dirty="0"/>
          </a:p>
        </p:txBody>
      </p:sp>
      <p:sp>
        <p:nvSpPr>
          <p:cNvPr id="38" name="Shape 33"/>
          <p:cNvSpPr/>
          <p:nvPr/>
        </p:nvSpPr>
        <p:spPr>
          <a:xfrm>
            <a:off x="15275052" y="4251960"/>
            <a:ext cx="14634972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9" name="Shape 34"/>
          <p:cNvSpPr/>
          <p:nvPr/>
        </p:nvSpPr>
        <p:spPr>
          <a:xfrm>
            <a:off x="15275052" y="4480560"/>
            <a:ext cx="14634972" cy="256032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0" name="Text 35"/>
          <p:cNvSpPr/>
          <p:nvPr/>
        </p:nvSpPr>
        <p:spPr>
          <a:xfrm>
            <a:off x="15275052" y="4480560"/>
            <a:ext cx="14634972" cy="2560320"/>
          </a:xfrm>
          <a:prstGeom prst="rect">
            <a:avLst/>
          </a:prstGeom>
          <a:noFill/>
          <a:ln/>
        </p:spPr>
        <p:txBody>
          <a:bodyPr wrap="square" lIns="1270" tIns="3810" rIns="2540" bIns="1270" rtlCol="0" anchor="t"/>
          <a:lstStyle/>
          <a:p>
            <a:pPr marL="342900" indent="-342900">
              <a:buSzPct val="100000"/>
              <a:buChar char="•"/>
            </a:pPr>
            <a:r>
              <a:rPr sz="2200"/>
              <a:t>gfx900 is excluded by current official support matrices and default build filters, yet some code and artifacts still retain gfx900 handling.</a:t>
            </a:r>
            <a:endParaRPr lang="en-US" sz="2400" dirty="0"/>
          </a:p>
          <a:p>
            <a:r>
              <a:rPr sz="2200"/>
              <a:t>`num_gpu` is easily misread as GPU count; code tracing shows it actually means offloaded layers.</a:t>
            </a:r>
          </a:p>
          <a:p>
            <a:r>
              <a:rPr sz="2200"/>
              <a:t>The same Vega GPU can succeed on ROCm/HIP and fail on Vulkan under the same model and prompt.</a:t>
            </a:r>
          </a:p>
          <a:p>
            <a:r>
              <a:rPr sz="2200"/>
              <a:t>Therefore diagnosis must be layer-by-layer and evidence-driven, not reduced to "legacy GPU bad".</a:t>
            </a:r>
          </a:p>
        </p:txBody>
      </p:sp>
      <p:sp>
        <p:nvSpPr>
          <p:cNvPr id="41" name="Shape 36"/>
          <p:cNvSpPr/>
          <p:nvPr/>
        </p:nvSpPr>
        <p:spPr>
          <a:xfrm>
            <a:off x="15275052" y="7223760"/>
            <a:ext cx="548640" cy="548640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2" name="Text 37"/>
          <p:cNvSpPr/>
          <p:nvPr/>
        </p:nvSpPr>
        <p:spPr>
          <a:xfrm>
            <a:off x="15275052" y="7223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200" dirty="0"/>
          </a:p>
        </p:txBody>
      </p:sp>
      <p:sp>
        <p:nvSpPr>
          <p:cNvPr id="43" name="Text 38"/>
          <p:cNvSpPr/>
          <p:nvPr/>
        </p:nvSpPr>
        <p:spPr>
          <a:xfrm>
            <a:off x="15960852" y="7223760"/>
            <a:ext cx="13949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800"/>
              <a:t>Engineering Interventions</a:t>
            </a:r>
            <a:endParaRPr lang="en-US" sz="3800" dirty="0"/>
          </a:p>
        </p:txBody>
      </p:sp>
      <p:sp>
        <p:nvSpPr>
          <p:cNvPr id="44" name="Shape 39"/>
          <p:cNvSpPr/>
          <p:nvPr/>
        </p:nvSpPr>
        <p:spPr>
          <a:xfrm>
            <a:off x="15275052" y="7818120"/>
            <a:ext cx="14634972" cy="0"/>
          </a:xfrm>
          <a:prstGeom prst="line">
            <a:avLst/>
          </a:prstGeom>
          <a:noFill/>
          <a:ln w="254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Shape 40"/>
          <p:cNvSpPr/>
          <p:nvPr/>
        </p:nvSpPr>
        <p:spPr>
          <a:xfrm>
            <a:off x="15275052" y="8046720"/>
            <a:ext cx="14634972" cy="502920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6" name="Text 41"/>
          <p:cNvSpPr/>
          <p:nvPr/>
        </p:nvSpPr>
        <p:spPr>
          <a:xfrm>
            <a:off x="15457932" y="8183880"/>
            <a:ext cx="142692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/>
              <a:t>Evidence-First Investigation Strategy</a:t>
            </a:r>
            <a:endParaRPr lang="en-US" sz="28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57932" y="8686800"/>
          <a:ext cx="14269212" cy="3931920"/>
        </p:xfrm>
        <a:graphic>
          <a:graphicData uri="http://schemas.openxmlformats.org/drawingml/2006/table">
            <a:tbl>
              <a:tblPr/>
              <a:tblGrid>
                <a:gridCol w="2853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492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6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800" b="1"/>
                        <a:t>Layer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Intervention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Effect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800"/>
                        <a:t>L1: Distribution</a:t>
                      </a:r>
                    </a:p>
                    <a:p>
                      <a:r>
                        <a:rPr sz="1800"/>
                        <a:t>/ Build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Inspect support matrix, presets, target filters, installed artifacts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Locate where gfx900 is blocked, allowed, or only partially retained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800"/>
                        <a:t>L2: API</a:t>
                      </a:r>
                    </a:p>
                    <a:p>
                      <a:r>
                        <a:rPr sz="1800"/>
                        <a:t>Semantics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Trace `num_gpu` through client → server → runner → llama.cpp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Fix interpretation: offloaded layers, not GPU count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800"/>
                        <a:t>L3: Runtime</a:t>
                      </a:r>
                    </a:p>
                    <a:p>
                      <a:r>
                        <a:rPr sz="1800"/>
                        <a:t>Comparison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Run matched ROCm (:11435) and Vulkan (:11434) tests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Isolate backend-specific failure modes on identical hardware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sz="1800"/>
                        <a:t>L4: Evidence</a:t>
                      </a:r>
                    </a:p>
                    <a:p>
                      <a:r>
                        <a:rPr sz="1800"/>
                        <a:t>Capture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Structured work logs, journal traces, backend probes, rocm-smi, ollama ps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Localize crashes and make claims reproducible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8" name="Text 42"/>
          <p:cNvSpPr/>
          <p:nvPr/>
        </p:nvSpPr>
        <p:spPr>
          <a:xfrm>
            <a:off x="15457932" y="12344400"/>
            <a:ext cx="142692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200"/>
              <a:t>Approach prioritizes falsifiable diagnosis and reproducibility over optimistic one-off success.</a:t>
            </a:r>
            <a:endParaRPr lang="en-US" sz="2400" dirty="0"/>
          </a:p>
        </p:txBody>
      </p:sp>
      <p:sp>
        <p:nvSpPr>
          <p:cNvPr id="49" name="Shape 43"/>
          <p:cNvSpPr/>
          <p:nvPr/>
        </p:nvSpPr>
        <p:spPr>
          <a:xfrm>
            <a:off x="15275052" y="1325880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0" name="Text 44"/>
          <p:cNvSpPr/>
          <p:nvPr/>
        </p:nvSpPr>
        <p:spPr>
          <a:xfrm>
            <a:off x="15275052" y="1325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200" dirty="0"/>
          </a:p>
        </p:txBody>
      </p:sp>
      <p:sp>
        <p:nvSpPr>
          <p:cNvPr id="51" name="Text 45"/>
          <p:cNvSpPr/>
          <p:nvPr/>
        </p:nvSpPr>
        <p:spPr>
          <a:xfrm>
            <a:off x="15960852" y="13258800"/>
            <a:ext cx="139491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800"/>
              <a:t>Experimental Results</a:t>
            </a:r>
            <a:endParaRPr lang="en-US" sz="3800" dirty="0"/>
          </a:p>
        </p:txBody>
      </p:sp>
      <p:sp>
        <p:nvSpPr>
          <p:cNvPr id="52" name="Shape 46"/>
          <p:cNvSpPr/>
          <p:nvPr/>
        </p:nvSpPr>
        <p:spPr>
          <a:xfrm>
            <a:off x="15275052" y="13853160"/>
            <a:ext cx="14634972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Shape 47"/>
          <p:cNvSpPr/>
          <p:nvPr/>
        </p:nvSpPr>
        <p:spPr>
          <a:xfrm>
            <a:off x="15275052" y="14081760"/>
            <a:ext cx="14634972" cy="219456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4" name="Text 48"/>
          <p:cNvSpPr/>
          <p:nvPr/>
        </p:nvSpPr>
        <p:spPr>
          <a:xfrm>
            <a:off x="15457932" y="14173200"/>
            <a:ext cx="142692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/>
              <a:t>Test Environment</a:t>
            </a:r>
            <a:endParaRPr lang="en-US" sz="2600" dirty="0"/>
          </a:p>
        </p:txBody>
      </p:sp>
      <p:graphicFrame>
        <p:nvGraphicFramePr>
          <p:cNvPr id="5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57932" y="14584680"/>
          <a:ext cx="14269212" cy="1600200"/>
        </p:xfrm>
        <a:graphic>
          <a:graphicData uri="http://schemas.openxmlformats.org/drawingml/2006/table">
            <a:tbl>
              <a:tblPr/>
              <a:tblGrid>
                <a:gridCol w="3567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01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2000" b="1"/>
                        <a:t>Component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/>
                        <a:t>Specification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2000"/>
                        <a:t>GPU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AMD Radeon RX Vega 56 (gfx900), 8 GB HBM2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2000"/>
                        <a:t>OS / Kernel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EndeavourOS, Kernel 6.12.74-1-lts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2000"/>
                        <a:t>ROCm path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Ollama 0.17.5 via :11435, library=ROCm, libggml-hip.so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r>
                        <a:rPr sz="2000"/>
                        <a:t>Vulkan path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00"/>
                        <a:t>Ollama 0.17.4 via :11434, library=Vulkan, same model/prompt conditions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" name="Shape 49"/>
          <p:cNvSpPr/>
          <p:nvPr/>
        </p:nvSpPr>
        <p:spPr>
          <a:xfrm>
            <a:off x="15275052" y="16459200"/>
            <a:ext cx="14634972" cy="658368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7" name="Text 50"/>
          <p:cNvSpPr/>
          <p:nvPr/>
        </p:nvSpPr>
        <p:spPr>
          <a:xfrm>
            <a:off x="15457932" y="16550640"/>
            <a:ext cx="142692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/>
              <a:t>Matched-Condition Verification Results</a:t>
            </a:r>
            <a:endParaRPr lang="en-US" sz="2600" dirty="0"/>
          </a:p>
        </p:txBody>
      </p:sp>
      <p:graphicFrame>
        <p:nvGraphicFramePr>
          <p:cNvPr id="58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57932" y="16962120"/>
          <a:ext cx="12842291" cy="3246120"/>
        </p:xfrm>
        <a:graphic>
          <a:graphicData uri="http://schemas.openxmlformats.org/drawingml/2006/table">
            <a:tbl>
              <a:tblPr/>
              <a:tblGrid>
                <a:gridCol w="2140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9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5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9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r>
                        <a:rPr sz="1800" b="1"/>
                        <a:t>Stage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Verification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Evidence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Status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800"/>
                        <a:t>1. Support</a:t>
                      </a:r>
                    </a:p>
                    <a:p>
                      <a:r>
                        <a:rPr sz="1800"/>
                        <a:t>Gate Check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Matrix / preset / artifact review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gfx900 excluded from official matrix, but residual code and artifacts remain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OK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800"/>
                        <a:t>2. API</a:t>
                      </a:r>
                    </a:p>
                    <a:p>
                      <a:r>
                        <a:rPr sz="1800"/>
                        <a:t>Semantics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`num_gpu` meaning trace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client → server → llama.cpp shows offloaded layers, not GPU count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OK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800"/>
                        <a:t>3. ROCm/HIP</a:t>
                      </a:r>
                    </a:p>
                    <a:p>
                      <a:r>
                        <a:rPr sz="1800"/>
                        <a:t>Run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qwen3.5:2b, num_gpu=0,1,2,-1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Short fixed runs succeeded under matched conditions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OK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800"/>
                        <a:t>4. Vulkan</a:t>
                      </a:r>
                    </a:p>
                    <a:p>
                      <a:r>
                        <a:rPr sz="1800"/>
                        <a:t>Run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same model and parameters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num_gpu=0 ok; num_gpu&gt;=1 returned HTTP 500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FAIL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r>
                        <a:rPr sz="1800"/>
                        <a:t>5. Crash</a:t>
                      </a:r>
                    </a:p>
                    <a:p>
                      <a:r>
                        <a:rPr sz="1800"/>
                        <a:t>Localization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journal / stack trace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load completed; SIGSEGV occurred in compute path (`computeBatch`)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FAIL (Vulkan)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9" name="Text 51"/>
          <p:cNvSpPr/>
          <p:nvPr/>
        </p:nvSpPr>
        <p:spPr>
          <a:xfrm>
            <a:off x="15549372" y="20299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60" name="Text 52"/>
          <p:cNvSpPr/>
          <p:nvPr/>
        </p:nvSpPr>
        <p:spPr>
          <a:xfrm>
            <a:off x="15915132" y="20299680"/>
            <a:ext cx="137205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000"/>
              <a:t>Matched backend comparison: ROCm/HIP succeeded in fixed tests, while Vulkan reproducibly failed once GPU offload was enabled</a:t>
            </a:r>
            <a:endParaRPr lang="en-US" sz="2000" dirty="0"/>
          </a:p>
        </p:txBody>
      </p:sp>
      <p:sp>
        <p:nvSpPr>
          <p:cNvPr id="61" name="Text 53"/>
          <p:cNvSpPr/>
          <p:nvPr/>
        </p:nvSpPr>
        <p:spPr>
          <a:xfrm>
            <a:off x="15457932" y="20711160"/>
            <a:ext cx="142692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/>
              <a:t>Failure Diagnosis</a:t>
            </a:r>
            <a:endParaRPr lang="en-US" sz="2400" dirty="0"/>
          </a:p>
        </p:txBody>
      </p:sp>
      <p:graphicFrame>
        <p:nvGraphicFramePr>
          <p:cNvPr id="62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457932" y="21076920"/>
          <a:ext cx="14269212" cy="1673352"/>
        </p:xfrm>
        <a:graphic>
          <a:graphicData uri="http://schemas.openxmlformats.org/drawingml/2006/table">
            <a:tbl>
              <a:tblPr/>
              <a:tblGrid>
                <a:gridCol w="2853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3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r>
                        <a:rPr sz="1800" b="1"/>
                        <a:t>Hypothesis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Expected Evidence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/>
                        <a:t>Observed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24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Vega is</a:t>
                      </a:r>
                    </a:p>
                    <a:p>
                      <a:r>
                        <a:rPr sz="1800"/>
                        <a:t>generally unusable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Both backends should fail on the same GPU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Contradicted by ROCm/HIP success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`num_gpu` means</a:t>
                      </a:r>
                    </a:p>
                    <a:p>
                      <a:r>
                        <a:rPr sz="1800"/>
                        <a:t>GPU count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Failure should imply multi-GPU entry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Contradicted by code trace: it means offloaded layers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800"/>
                        <a:t>Vulkan compute</a:t>
                      </a:r>
                    </a:p>
                    <a:p>
                      <a:r>
                        <a:rPr sz="1800"/>
                        <a:t>path instability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Load completes; crash occurs after runner start in compute stack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/>
                        <a:t>MATCH</a:t>
                      </a:r>
                    </a:p>
                  </a:txBody>
                  <a:tcPr>
                    <a:lnL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3" name="Shape 54"/>
          <p:cNvSpPr/>
          <p:nvPr/>
        </p:nvSpPr>
        <p:spPr>
          <a:xfrm>
            <a:off x="15549372" y="22448520"/>
            <a:ext cx="14086332" cy="5029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4" name="Text 55"/>
          <p:cNvSpPr/>
          <p:nvPr/>
        </p:nvSpPr>
        <p:spPr>
          <a:xfrm>
            <a:off x="15640812" y="22448520"/>
            <a:ext cx="139034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1800"/>
              <a:t>Under matched conditions, the principal differentiator was backend choice. ROCm/HIP retained executable gfx900 paths, whereas Vulkan crashed after model load when offload computation began. This points to backend-specific compute-path instability rather than a blanket "Vega cannot run" conclusion.</a:t>
            </a:r>
            <a:endParaRPr lang="en-US" sz="1800" dirty="0"/>
          </a:p>
        </p:txBody>
      </p:sp>
      <p:sp>
        <p:nvSpPr>
          <p:cNvPr id="65" name="Shape 56"/>
          <p:cNvSpPr/>
          <p:nvPr/>
        </p:nvSpPr>
        <p:spPr>
          <a:xfrm>
            <a:off x="15275052" y="23225760"/>
            <a:ext cx="14634972" cy="164592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6" name="Text 57"/>
          <p:cNvSpPr/>
          <p:nvPr/>
        </p:nvSpPr>
        <p:spPr>
          <a:xfrm>
            <a:off x="15457932" y="23317200"/>
            <a:ext cx="142692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400"/>
              <a:t>Additional Finding: Why gfx900 Still Works Sometimes</a:t>
            </a:r>
            <a:endParaRPr lang="en-US" sz="2400" dirty="0"/>
          </a:p>
        </p:txBody>
      </p:sp>
      <p:sp>
        <p:nvSpPr>
          <p:cNvPr id="67" name="Text 58"/>
          <p:cNvSpPr/>
          <p:nvPr/>
        </p:nvSpPr>
        <p:spPr>
          <a:xfrm>
            <a:off x="15457932" y="23682960"/>
            <a:ext cx="14269212" cy="109728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sz="1800"/>
              <a:t>ROCm 7.2 excludes gfx900 from current official support matrices, but changelog language says "no longer built by default" rather than "forbidden."</a:t>
            </a:r>
            <a:endParaRPr lang="en-US" sz="2000" dirty="0"/>
          </a:p>
          <a:p>
            <a:r>
              <a:rPr sz="1800"/>
              <a:t>In the local ROCm install, gfx900 hsaco artifacts and `libggml-hip.so` strings were still present.</a:t>
            </a:r>
          </a:p>
          <a:p>
            <a:r>
              <a:rPr sz="1800"/>
              <a:t>Interpretation: unsupported means unguaranteed and untested at release level, not necessarily impossible to execute.</a:t>
            </a:r>
          </a:p>
          <a:p>
            <a:r>
              <a:rPr sz="1800"/>
              <a:t>This explains why ROCm/HIP can run while Vulkan still fails on the same Vega card.</a:t>
            </a:r>
          </a:p>
        </p:txBody>
      </p:sp>
      <p:sp>
        <p:nvSpPr>
          <p:cNvPr id="68" name="Shape 59"/>
          <p:cNvSpPr/>
          <p:nvPr/>
        </p:nvSpPr>
        <p:spPr>
          <a:xfrm>
            <a:off x="365760" y="25237440"/>
            <a:ext cx="29544264" cy="3840480"/>
          </a:xfrm>
          <a:prstGeom prst="rect">
            <a:avLst/>
          </a:prstGeom>
          <a:solidFill>
            <a:srgbClr val="F5F5F5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9" name="Shape 60"/>
          <p:cNvSpPr/>
          <p:nvPr/>
        </p:nvSpPr>
        <p:spPr>
          <a:xfrm>
            <a:off x="640080" y="25420320"/>
            <a:ext cx="548640" cy="54864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0" name="Text 61"/>
          <p:cNvSpPr/>
          <p:nvPr/>
        </p:nvSpPr>
        <p:spPr>
          <a:xfrm>
            <a:off x="640080" y="2542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200" dirty="0"/>
          </a:p>
        </p:txBody>
      </p:sp>
      <p:sp>
        <p:nvSpPr>
          <p:cNvPr id="71" name="Text 62"/>
          <p:cNvSpPr/>
          <p:nvPr/>
        </p:nvSpPr>
        <p:spPr>
          <a:xfrm>
            <a:off x="1325880" y="25420320"/>
            <a:ext cx="28309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800"/>
              <a:t>Takeaway &amp; Key Messages</a:t>
            </a:r>
            <a:endParaRPr lang="en-US" sz="3800" dirty="0"/>
          </a:p>
        </p:txBody>
      </p:sp>
      <p:sp>
        <p:nvSpPr>
          <p:cNvPr id="72" name="Shape 63"/>
          <p:cNvSpPr/>
          <p:nvPr/>
        </p:nvSpPr>
        <p:spPr>
          <a:xfrm>
            <a:off x="640080" y="26014680"/>
            <a:ext cx="28995624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Shape 64"/>
          <p:cNvSpPr/>
          <p:nvPr/>
        </p:nvSpPr>
        <p:spPr>
          <a:xfrm>
            <a:off x="640080" y="26334720"/>
            <a:ext cx="9482328" cy="2377440"/>
          </a:xfrm>
          <a:prstGeom prst="rect">
            <a:avLst/>
          </a:prstGeom>
          <a:solidFill>
            <a:srgbClr val="EEEEEE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4" name="Shape 65"/>
          <p:cNvSpPr/>
          <p:nvPr/>
        </p:nvSpPr>
        <p:spPr>
          <a:xfrm>
            <a:off x="640080" y="26334720"/>
            <a:ext cx="9482328" cy="731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5" name="Text 66"/>
          <p:cNvSpPr/>
          <p:nvPr/>
        </p:nvSpPr>
        <p:spPr>
          <a:xfrm>
            <a:off x="822960" y="2651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00000"/>
                </a:solidFill>
              </a:rPr>
              <a:t>✅</a:t>
            </a:r>
            <a:endParaRPr lang="en-US" sz="3800" dirty="0"/>
          </a:p>
        </p:txBody>
      </p:sp>
      <p:sp>
        <p:nvSpPr>
          <p:cNvPr id="76" name="Text 67"/>
          <p:cNvSpPr/>
          <p:nvPr/>
        </p:nvSpPr>
        <p:spPr>
          <a:xfrm>
            <a:off x="1371600" y="26517600"/>
            <a:ext cx="8567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/>
              <a:t>Support Status ≠ Execution Reality</a:t>
            </a:r>
            <a:endParaRPr lang="en-US" sz="2800" dirty="0"/>
          </a:p>
        </p:txBody>
      </p:sp>
      <p:sp>
        <p:nvSpPr>
          <p:cNvPr id="77" name="Text 68"/>
          <p:cNvSpPr/>
          <p:nvPr/>
        </p:nvSpPr>
        <p:spPr>
          <a:xfrm>
            <a:off x="914400" y="27066240"/>
            <a:ext cx="89336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200"/>
              <a:t>Official exclusion does not imply absolute impossibility. Residual code paths, build targets, and shipped artifacts can still make gfx900 partially executable.</a:t>
            </a:r>
            <a:endParaRPr lang="en-US" sz="2400" dirty="0"/>
          </a:p>
        </p:txBody>
      </p:sp>
      <p:sp>
        <p:nvSpPr>
          <p:cNvPr id="78" name="Shape 69"/>
          <p:cNvSpPr/>
          <p:nvPr/>
        </p:nvSpPr>
        <p:spPr>
          <a:xfrm>
            <a:off x="10396728" y="26334720"/>
            <a:ext cx="9482328" cy="2377440"/>
          </a:xfrm>
          <a:prstGeom prst="rect">
            <a:avLst/>
          </a:prstGeom>
          <a:solidFill>
            <a:srgbClr val="EEEEEE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9" name="Shape 70"/>
          <p:cNvSpPr/>
          <p:nvPr/>
        </p:nvSpPr>
        <p:spPr>
          <a:xfrm>
            <a:off x="10396728" y="26334720"/>
            <a:ext cx="9482328" cy="7315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0" name="Text 71"/>
          <p:cNvSpPr/>
          <p:nvPr/>
        </p:nvSpPr>
        <p:spPr>
          <a:xfrm>
            <a:off x="10579608" y="2651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00000"/>
                </a:solidFill>
              </a:rPr>
              <a:t>💰</a:t>
            </a:r>
            <a:endParaRPr lang="en-US" sz="3800" dirty="0"/>
          </a:p>
        </p:txBody>
      </p:sp>
      <p:sp>
        <p:nvSpPr>
          <p:cNvPr id="81" name="Text 72"/>
          <p:cNvSpPr/>
          <p:nvPr/>
        </p:nvSpPr>
        <p:spPr>
          <a:xfrm>
            <a:off x="11128248" y="26517600"/>
            <a:ext cx="8567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/>
              <a:t>Backend Choice Dominates Stability</a:t>
            </a:r>
            <a:endParaRPr lang="en-US" sz="2800" dirty="0"/>
          </a:p>
        </p:txBody>
      </p:sp>
      <p:sp>
        <p:nvSpPr>
          <p:cNvPr id="82" name="Text 73"/>
          <p:cNvSpPr/>
          <p:nvPr/>
        </p:nvSpPr>
        <p:spPr>
          <a:xfrm>
            <a:off x="10671048" y="27066240"/>
            <a:ext cx="89336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200"/>
              <a:t>On the same Vega/gfx900 device and the same model, ROCm/HIP passed fixed tests that Vulkan failed once GPU offload was enabled.</a:t>
            </a:r>
            <a:endParaRPr lang="en-US" sz="2400" dirty="0"/>
          </a:p>
        </p:txBody>
      </p:sp>
      <p:sp>
        <p:nvSpPr>
          <p:cNvPr id="83" name="Shape 74"/>
          <p:cNvSpPr/>
          <p:nvPr/>
        </p:nvSpPr>
        <p:spPr>
          <a:xfrm>
            <a:off x="20153376" y="26334720"/>
            <a:ext cx="9482328" cy="2377440"/>
          </a:xfrm>
          <a:prstGeom prst="rect">
            <a:avLst/>
          </a:prstGeom>
          <a:solidFill>
            <a:srgbClr val="EEEEEE"/>
          </a:solidFill>
          <a:ln/>
          <a:effectLst>
            <a:outerShdw blurRad="38100" dist="127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4" name="Shape 75"/>
          <p:cNvSpPr/>
          <p:nvPr/>
        </p:nvSpPr>
        <p:spPr>
          <a:xfrm>
            <a:off x="20153376" y="26334720"/>
            <a:ext cx="9482328" cy="73152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5" name="Text 76"/>
          <p:cNvSpPr/>
          <p:nvPr/>
        </p:nvSpPr>
        <p:spPr>
          <a:xfrm>
            <a:off x="20336256" y="2651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00000"/>
                </a:solidFill>
              </a:rPr>
              <a:t>🔬</a:t>
            </a:r>
            <a:endParaRPr lang="en-US" sz="3800" dirty="0"/>
          </a:p>
        </p:txBody>
      </p:sp>
      <p:sp>
        <p:nvSpPr>
          <p:cNvPr id="86" name="Text 77"/>
          <p:cNvSpPr/>
          <p:nvPr/>
        </p:nvSpPr>
        <p:spPr>
          <a:xfrm>
            <a:off x="20884896" y="26517600"/>
            <a:ext cx="8567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sz="2600"/>
              <a:t>Reproducibility Before Claims</a:t>
            </a:r>
            <a:endParaRPr lang="en-US" sz="2800" dirty="0"/>
          </a:p>
        </p:txBody>
      </p:sp>
      <p:sp>
        <p:nvSpPr>
          <p:cNvPr id="87" name="Text 78"/>
          <p:cNvSpPr/>
          <p:nvPr/>
        </p:nvSpPr>
        <p:spPr>
          <a:xfrm>
            <a:off x="20427696" y="27066240"/>
            <a:ext cx="893368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sz="2200"/>
              <a:t>Gate matrices, code tracing, and matched work logs are necessary before declaring a legacy GPU "dead" or claiming a backend is stable.</a:t>
            </a:r>
            <a:endParaRPr lang="en-US" sz="2400" dirty="0"/>
          </a:p>
        </p:txBody>
      </p:sp>
      <p:sp>
        <p:nvSpPr>
          <p:cNvPr id="88" name="Text 79"/>
          <p:cNvSpPr/>
          <p:nvPr/>
        </p:nvSpPr>
        <p:spPr>
          <a:xfrm>
            <a:off x="365760" y="42254424"/>
            <a:ext cx="295442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400"/>
              <a:t>Unsupported ≠ Impossible.  |  Legacy ≠ Poor.  |  Backend choice matters.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1095</Words>
  <Application>Microsoft Macintosh PowerPoint</Application>
  <PresentationFormat>ユーザー設定</PresentationFormat>
  <Paragraphs>146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ROCm/HIP Usage on Legacy HBM GPUs</dc:title>
  <dc:subject>PptxGenJS Presentation</dc:subject>
  <dc:creator>Akira Ito</dc:creator>
  <cp:lastModifiedBy>あきら 伊藤</cp:lastModifiedBy>
  <cp:revision>2</cp:revision>
  <dcterms:created xsi:type="dcterms:W3CDTF">2026-03-06T03:34:41Z</dcterms:created>
  <dcterms:modified xsi:type="dcterms:W3CDTF">2026-03-07T02:00:03Z</dcterms:modified>
</cp:coreProperties>
</file>